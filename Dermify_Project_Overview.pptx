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Dermify is an Android app that screens photographs of skin for four conditions, runs entirely on-device, explains its prediction with a heatmap, and refers uncertain cases to a clinician over WhatsApp. Today's talk covers two things: how the app itself works end to end, and the data curation pipeline built to fix its biggest limitation —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project in a real access problem, not a generic 'AI for healthcare' pitch. Dermatologist access in Ghana is limited relative to skin-condition burden. The app is designed as a screening-and-referral tool, not a replacement for a clinician — low-confidence results are explicitly routed to a specialist rather than presented as a diagnosis.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KBTH Dermatology Clinic review (Rosenbaum et al., 2017); KATH study (Asiedu-Gyekye et al., 2022, n=460); community study (Amoako et al., BMC Infect Dis 2024, n=1,327). Point out the inverse relationship deliberately — eczema and fungal infection are the two highest-prevalence conditions AND the two lowest F1 scores. This single fact motivates the entire second half of the talk — the data curation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Capture goes through a three-layer gate before it's even allowed to reach the disease model — this rejects non-skin photos cheaply before spending a full EfficientNet forward pass. The disease model produces both a class prediction and a heatmap in one pass. From the result screen, two independent paths exist: refer to a specialist (telemedicine), or consent to contribute the image for future training — entirely separate decisions, one does not require the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 it's a reference slide, not a talking point to dwell on, unless asked. The single-TFLite-dependency constraint and the Room build flags are both things that broke the build before being pinned down — worth mentioning briefly if asked about engineering challenges.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layers must pass (AND), cheapest first. Each is wrapped in try/catch — if a model fails to load, that layer is skipped rather than blocking the user, since earlier layers already passed. Worth mentioning: Layer 3's behaviour (which direction the sigmoid output actually meant) was determined empirically because the documented description of the model turned out to be inverted — a good example of 'verify, don't trust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EfficientNetB0 with ImageNet weights, custom head. Two-phase training is standard transfer-learning practice but worth explaining why BatchNorm stays frozen during fine-tuning: unfreezing BN layers with a small batch destabilises the running statistics. The dual-output export is a genuine engineering decision — it means the on-device heatmap costs zero extra inference passes.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good technical-depth slide for a defence — it shows an understanding of a subtle but important distinction, not just 'we added a heatmap.' TFLite genuinely cannot run backpropagation at inference time, so a compromise was engineered: precompute class-averaged gradient weights once in the notebook (using 60 training images per class), then apply those fixed weights to any new image's feature maps at inference. It's coarser than true Grad-CAM but works within TFLite's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headline number and its uncertainty, not a single best-run figure — this is itself a defensible methodological choice worth stating explicitly: a single held-out split gave 81.14%, but varied by over a point across runs, so the cross-validated figure is the one reported, precisely because it can be defended under questioning.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strongest slides for a defence — it demonstrates real scientific process: noticing an anomaly, investigating rather than dismissing it, finding a real (if secondary) problem, fixing it properly, and then discovering the anomaly's actual cause was something else entirely. Be ready to explain both findings clearly if pressed.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tour of the features that make this a usable clinical tool rather than a pure research demo.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slide into part two of the talk. Reconnect explicitly to slide 3's table — this isn't a new problem, it's the same one, and the curation pipeline is the direct response to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stage. The label at this stage is the one the app user already confirmed or corrected on the Verify screen — not a raw, unreviewed model guess. De-identification runs before upload with no exceptions; it's written as assertions that fail the contribution outright, since privacy failures are silent by default — an EXIF field that survives produces no error, so the code checks explicitly rather than trusting the strip to have worked.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RPCs, in this order and not the other. register_contribution does the duplicate check BEFORE any bytes transfer — meaningful on a metered connection, since a duplicate costs one small request instead of a full image upload. mark_contribution_stored is a genuine verification step, not a rubber stamp — it checks the object actually exists in storage before it will mark a row as stored, which matters and will come up again on the debugging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these are enforced, not merely promised — the anon key the app ships with has no read access to the collection at all, only insert; that's a database guarantee, not client behaviour a user has to trust. Withdrawal is honest about its limit rather than overpromising — worth stating plainly if asked about GDPR-style 'right to be forgotten.'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'we actually engineered this, we didn't just assemble a tutorial' slide in the deck — use it if there's time or if pressed on process. Each of these three was found by measuring against the live system, not by reasoning from the spec — and notably, the FIRST hypothesis (a missing INSERT policy — the most-likely candidate written into the original spec) turned out to be wrong. That's worth saying explicitly: the original guess was disproven by evidence, not confirmed by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'did you test this with multiple physical devices' — be precise: this is an architectural guarantee (the Supabase URL and key are constants compiled into the APK, identical on every install, no per-device code path exists), verified thoroughly on one device, not something that needed two phones side-by-side to confirm.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Include this specifically to preempt a common panel question ('why not federated learning, since privacy matters here'). The answer demonstrates the team understood what FL actually solves and correctly identified that it doesn't address this project's actual bottleneck.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status — this is a capstone defence, overclaiming an unbuilt feature is a bigger risk than admitting a phase isn't done yet. Phase 1 is genuinely built and was confirmed end-to-end on a physical device this session: a real image was captured, de-identified, hashed, uploaded, organised by label, and independently confirmed present in storage by direct database query.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and open the floor. Likely questions to be ready for: multi-device architecture (slide 17), why not federated learning (slide 18), how retraining is gated (slide 19), and the debugging story (slide 16) if process/rigor is asked about directly.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97A7"/>
        </a:solidFill>
        <a:effectLst/>
      </p:bgPr>
    </p:bg>
    <p:spTree>
      <p:nvGrpSpPr>
        <p:cNvPr id="1" name=""/>
        <p:cNvGrpSpPr/>
        <p:nvPr/>
      </p:nvGrpSpPr>
      <p:grpSpPr/>
      <p:sp>
        <p:nvSpPr>
          <p:cNvPr id="2" name="Rectangle 1"/>
          <p:cNvSpPr/>
          <p:nvPr/>
        </p:nvSpPr>
        <p:spPr>
          <a:xfrm>
            <a:off x="0" y="4160520"/>
            <a:ext cx="12191695" cy="2697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1280160" cy="762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48840"/>
            <a:ext cx="10515600" cy="1280160"/>
          </a:xfrm>
          <a:prstGeom prst="rect">
            <a:avLst/>
          </a:prstGeom>
          <a:noFill/>
        </p:spPr>
        <p:txBody>
          <a:bodyPr wrap="none">
            <a:spAutoFit/>
          </a:bodyPr>
          <a:lstStyle/>
          <a:p>
            <a:pPr>
              <a:defRPr sz="6000" b="1">
                <a:solidFill>
                  <a:srgbClr val="FFFFFF"/>
                </a:solidFill>
                <a:latin typeface="Calibri Light"/>
              </a:defRPr>
            </a:pPr>
            <a:r>
              <a:t>Dermify</a:t>
            </a:r>
          </a:p>
        </p:txBody>
      </p:sp>
      <p:sp>
        <p:nvSpPr>
          <p:cNvPr id="5" name="TextBox 4"/>
          <p:cNvSpPr txBox="1"/>
          <p:nvPr/>
        </p:nvSpPr>
        <p:spPr>
          <a:xfrm>
            <a:off x="640080" y="3200400"/>
            <a:ext cx="10698480" cy="914400"/>
          </a:xfrm>
          <a:prstGeom prst="rect">
            <a:avLst/>
          </a:prstGeom>
          <a:noFill/>
        </p:spPr>
        <p:txBody>
          <a:bodyPr wrap="square">
            <a:spAutoFit/>
          </a:bodyPr>
          <a:lstStyle/>
          <a:p>
            <a:pPr>
              <a:defRPr sz="2000">
                <a:solidFill>
                  <a:srgbClr val="FFFFFF"/>
                </a:solidFill>
                <a:latin typeface="Calibri"/>
              </a:defRPr>
            </a:pPr>
            <a:r>
              <a:t>On-device AI skin-condition screening, and a consented pipeline</a:t>
            </a:r>
            <a:br/>
            <a:r>
              <a:t>to build the dataset it actually needs</a:t>
            </a:r>
          </a:p>
        </p:txBody>
      </p:sp>
      <p:sp>
        <p:nvSpPr>
          <p:cNvPr id="6" name="TextBox 5"/>
          <p:cNvSpPr txBox="1"/>
          <p:nvPr/>
        </p:nvSpPr>
        <p:spPr>
          <a:xfrm>
            <a:off x="640080" y="4663440"/>
            <a:ext cx="10058400" cy="1463040"/>
          </a:xfrm>
          <a:prstGeom prst="rect">
            <a:avLst/>
          </a:prstGeom>
          <a:noFill/>
        </p:spPr>
        <p:txBody>
          <a:bodyPr wrap="square">
            <a:spAutoFit/>
          </a:bodyPr>
          <a:lstStyle/>
          <a:p>
            <a:pPr>
              <a:spcAft>
                <a:spcPts val="800"/>
              </a:spcAft>
              <a:defRPr sz="1800" b="1">
                <a:solidFill>
                  <a:srgbClr val="1C2628"/>
                </a:solidFill>
                <a:latin typeface="Calibri"/>
              </a:defRPr>
            </a:pPr>
            <a:r>
              <a:t>BSc Telecommunication Engineering — Final-Year Capstone</a:t>
            </a:r>
          </a:p>
          <a:p>
            <a:pPr>
              <a:spcAft>
                <a:spcPts val="800"/>
              </a:spcAft>
              <a:defRPr sz="1500" b="0">
                <a:solidFill>
                  <a:srgbClr val="4A585B"/>
                </a:solidFill>
                <a:latin typeface="Calibri"/>
              </a:defRPr>
            </a:pPr>
            <a:r>
              <a:t>Kwame Nkrumah University of Science and Technology (KNUST), Kumasi, Ghana</a:t>
            </a:r>
          </a:p>
          <a:p>
            <a:pPr>
              <a:spcAft>
                <a:spcPts val="800"/>
              </a:spcAft>
              <a:defRPr sz="1500" b="0">
                <a:solidFill>
                  <a:srgbClr val="4A585B"/>
                </a:solidFill>
                <a:latin typeface="Calibri"/>
              </a:defRPr>
            </a:pPr>
            <a:r>
              <a:t>Caleb — Android / Kotlin        Hannah — Python / Machine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MOTIVATION</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Why This Exists</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02</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2100" b="1">
                <a:solidFill>
                  <a:srgbClr val="1C2628"/>
                </a:solidFill>
                <a:latin typeface="Calibri"/>
              </a:defRPr>
            </a:pPr>
            <a:r>
              <a:t>●  Skin conditions are common in Ghana; specialist dermatologist access is limited</a:t>
            </a:r>
          </a:p>
          <a:p>
            <a:pPr>
              <a:lnSpc>
                <a:spcPct val="125000"/>
              </a:lnSpc>
              <a:spcAft>
                <a:spcPts val="1000"/>
              </a:spcAft>
              <a:defRPr sz="2100" b="1">
                <a:solidFill>
                  <a:srgbClr val="1C2628"/>
                </a:solidFill>
                <a:latin typeface="Calibri"/>
              </a:defRPr>
            </a:pPr>
            <a:r>
              <a:t>●  Dermify screens a photo on-device and gives an immediate, explainable result</a:t>
            </a:r>
          </a:p>
          <a:p>
            <a:pPr>
              <a:lnSpc>
                <a:spcPct val="125000"/>
              </a:lnSpc>
              <a:spcAft>
                <a:spcPts val="1000"/>
              </a:spcAft>
              <a:defRPr sz="2100" b="1">
                <a:solidFill>
                  <a:srgbClr val="1C2628"/>
                </a:solidFill>
                <a:latin typeface="Calibri"/>
              </a:defRPr>
            </a:pPr>
            <a:r>
              <a:t>●  Low-confidence or uncertain cases are referred to a clinician over WhatsApp — the app augments access, it does not replace a dermatologist</a:t>
            </a:r>
          </a:p>
          <a:p>
            <a:pPr>
              <a:lnSpc>
                <a:spcPct val="125000"/>
              </a:lnSpc>
              <a:spcAft>
                <a:spcPts val="1000"/>
              </a:spcAft>
              <a:defRPr sz="2100" b="1">
                <a:solidFill>
                  <a:srgbClr val="1C2628"/>
                </a:solidFill>
                <a:latin typeface="Calibri"/>
              </a:defRPr>
            </a:pPr>
            <a:r>
              <a:t>●  The four conditions it screens for were chosen from real Ghanaian hospital prevalence data, not from whatever public dataset was convenient</a:t>
            </a:r>
          </a:p>
        </p:txBody>
      </p:sp>
      <p:sp>
        <p:nvSpPr>
          <p:cNvPr id="7" name="Rounded Rectangle 6"/>
          <p:cNvSpPr/>
          <p:nvPr/>
        </p:nvSpPr>
        <p:spPr>
          <a:xfrm>
            <a:off x="457200" y="5623560"/>
            <a:ext cx="11247120" cy="777240"/>
          </a:xfrm>
          <a:prstGeom prst="roundRect">
            <a:avLst/>
          </a:prstGeom>
          <a:solidFill>
            <a:srgbClr val="F2FAFB"/>
          </a:solidFill>
          <a:ln w="1270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defRPr sz="1600" i="1" b="1">
                <a:solidFill>
                  <a:srgbClr val="006B78"/>
                </a:solidFill>
                <a:latin typeface="Calibri"/>
              </a:defRPr>
            </a:pPr>
            <a:r>
              <a:t>Design principle: built around what Ghanaian patients actually present with, not around what Western datasets happen to contain.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CLINICAL BASIS</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Four Conditions, Chosen From Prevalence Data</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03</a:t>
            </a:r>
          </a:p>
        </p:txBody>
      </p:sp>
      <p:graphicFrame>
        <p:nvGraphicFramePr>
          <p:cNvPr id="6" name="Table 5"/>
          <p:cNvGraphicFramePr>
            <a:graphicFrameLocks noGrp="1"/>
          </p:cNvGraphicFramePr>
          <p:nvPr/>
        </p:nvGraphicFramePr>
        <p:xfrm>
          <a:off x="548640" y="1600200"/>
          <a:ext cx="11064240" cy="2377440"/>
        </p:xfrm>
        <a:graphic>
          <a:graphicData uri="http://schemas.openxmlformats.org/drawingml/2006/table">
            <a:tbl>
              <a:tblPr firstRow="1" bandRow="1">
                <a:tableStyleId>{5C22544A-7EE6-4342-B048-85BDC9FD1C3A}</a:tableStyleId>
              </a:tblPr>
              <a:tblGrid>
                <a:gridCol w="5029200"/>
                <a:gridCol w="3017520"/>
                <a:gridCol w="3017520"/>
              </a:tblGrid>
              <a:tr h="475488">
                <a:tc>
                  <a:txBody>
                    <a:bodyPr/>
                    <a:lstStyle/>
                    <a:p>
                      <a:pPr>
                        <a:defRPr b="1" sz="1500">
                          <a:solidFill>
                            <a:srgbClr val="FFFFFF"/>
                          </a:solidFill>
                          <a:latin typeface="Calibri"/>
                        </a:defRPr>
                      </a:pPr>
                      <a:r>
                        <a:t>Condition</a:t>
                      </a:r>
                    </a:p>
                  </a:txBody>
                  <a:tcPr anchor="ctr">
                    <a:solidFill>
                      <a:srgbClr val="0097A7"/>
                    </a:solidFill>
                  </a:tcPr>
                </a:tc>
                <a:tc>
                  <a:txBody>
                    <a:bodyPr/>
                    <a:lstStyle/>
                    <a:p>
                      <a:pPr>
                        <a:defRPr b="1" sz="1500">
                          <a:solidFill>
                            <a:srgbClr val="FFFFFF"/>
                          </a:solidFill>
                          <a:latin typeface="Calibri"/>
                        </a:defRPr>
                      </a:pPr>
                      <a:r>
                        <a:t>Prevalence in Ghana</a:t>
                      </a:r>
                    </a:p>
                  </a:txBody>
                  <a:tcPr anchor="ctr">
                    <a:solidFill>
                      <a:srgbClr val="0097A7"/>
                    </a:solidFill>
                  </a:tcPr>
                </a:tc>
                <a:tc>
                  <a:txBody>
                    <a:bodyPr/>
                    <a:lstStyle/>
                    <a:p>
                      <a:pPr>
                        <a:defRPr b="1" sz="1500">
                          <a:solidFill>
                            <a:srgbClr val="FFFFFF"/>
                          </a:solidFill>
                          <a:latin typeface="Calibri"/>
                        </a:defRPr>
                      </a:pPr>
                      <a:r>
                        <a:t>Model F1 (5-fold CV)</a:t>
                      </a:r>
                    </a:p>
                  </a:txBody>
                  <a:tcPr anchor="ctr">
                    <a:solidFill>
                      <a:srgbClr val="0097A7"/>
                    </a:solidFill>
                  </a:tcPr>
                </a:tc>
              </a:tr>
              <a:tr h="475488">
                <a:tc>
                  <a:txBody>
                    <a:bodyPr/>
                    <a:lstStyle/>
                    <a:p>
                      <a:pPr>
                        <a:defRPr sz="1400" b="1">
                          <a:solidFill>
                            <a:srgbClr val="1C2628"/>
                          </a:solidFill>
                          <a:latin typeface="Calibri"/>
                        </a:defRPr>
                      </a:pPr>
                      <a:r>
                        <a:t>Eczema / dermatitis</a:t>
                      </a:r>
                    </a:p>
                  </a:txBody>
                  <a:tcPr anchor="ctr">
                    <a:solidFill>
                      <a:srgbClr val="F2FAFB"/>
                    </a:solidFill>
                  </a:tcPr>
                </a:tc>
                <a:tc>
                  <a:txBody>
                    <a:bodyPr/>
                    <a:lstStyle/>
                    <a:p>
                      <a:pPr>
                        <a:defRPr sz="1400" b="1">
                          <a:solidFill>
                            <a:srgbClr val="1C2628"/>
                          </a:solidFill>
                          <a:latin typeface="Calibri"/>
                        </a:defRPr>
                      </a:pPr>
                      <a:r>
                        <a:t>24.6%</a:t>
                      </a:r>
                    </a:p>
                  </a:txBody>
                  <a:tcPr anchor="ctr">
                    <a:solidFill>
                      <a:srgbClr val="F2FAFB"/>
                    </a:solidFill>
                  </a:tcPr>
                </a:tc>
                <a:tc>
                  <a:txBody>
                    <a:bodyPr/>
                    <a:lstStyle/>
                    <a:p>
                      <a:pPr>
                        <a:defRPr sz="1400" b="1">
                          <a:solidFill>
                            <a:srgbClr val="1C2628"/>
                          </a:solidFill>
                          <a:latin typeface="Calibri"/>
                        </a:defRPr>
                      </a:pPr>
                      <a:r>
                        <a:t>69.4%</a:t>
                      </a:r>
                    </a:p>
                  </a:txBody>
                  <a:tcPr anchor="ctr">
                    <a:solidFill>
                      <a:srgbClr val="F2FAFB"/>
                    </a:solidFill>
                  </a:tcPr>
                </a:tc>
              </a:tr>
              <a:tr h="475488">
                <a:tc>
                  <a:txBody>
                    <a:bodyPr/>
                    <a:lstStyle/>
                    <a:p>
                      <a:pPr>
                        <a:defRPr sz="1400" b="1">
                          <a:solidFill>
                            <a:srgbClr val="1C2628"/>
                          </a:solidFill>
                          <a:latin typeface="Calibri"/>
                        </a:defRPr>
                      </a:pPr>
                      <a:r>
                        <a:t>Fungal infection</a:t>
                      </a:r>
                    </a:p>
                  </a:txBody>
                  <a:tcPr anchor="ctr">
                    <a:solidFill>
                      <a:srgbClr val="F2FAFB"/>
                    </a:solidFill>
                  </a:tcPr>
                </a:tc>
                <a:tc>
                  <a:txBody>
                    <a:bodyPr/>
                    <a:lstStyle/>
                    <a:p>
                      <a:pPr>
                        <a:defRPr sz="1400" b="1">
                          <a:solidFill>
                            <a:srgbClr val="1C2628"/>
                          </a:solidFill>
                          <a:latin typeface="Calibri"/>
                        </a:defRPr>
                      </a:pPr>
                      <a:r>
                        <a:t>15.2%</a:t>
                      </a:r>
                    </a:p>
                  </a:txBody>
                  <a:tcPr anchor="ctr">
                    <a:solidFill>
                      <a:srgbClr val="F2FAFB"/>
                    </a:solidFill>
                  </a:tcPr>
                </a:tc>
                <a:tc>
                  <a:txBody>
                    <a:bodyPr/>
                    <a:lstStyle/>
                    <a:p>
                      <a:pPr>
                        <a:defRPr sz="1400" b="1">
                          <a:solidFill>
                            <a:srgbClr val="1C2628"/>
                          </a:solidFill>
                          <a:latin typeface="Calibri"/>
                        </a:defRPr>
                      </a:pPr>
                      <a:r>
                        <a:t>71.4%</a:t>
                      </a:r>
                    </a:p>
                  </a:txBody>
                  <a:tcPr anchor="ctr">
                    <a:solidFill>
                      <a:srgbClr val="F2FAFB"/>
                    </a:solidFill>
                  </a:tcPr>
                </a:tc>
              </a:tr>
              <a:tr h="475488">
                <a:tc>
                  <a:txBody>
                    <a:bodyPr/>
                    <a:lstStyle/>
                    <a:p>
                      <a:pPr>
                        <a:defRPr sz="1400" b="0">
                          <a:solidFill>
                            <a:srgbClr val="1C2628"/>
                          </a:solidFill>
                          <a:latin typeface="Calibri"/>
                        </a:defRPr>
                      </a:pPr>
                      <a:r>
                        <a:t>Scabies</a:t>
                      </a:r>
                    </a:p>
                  </a:txBody>
                  <a:tcPr anchor="ctr">
                    <a:solidFill>
                      <a:srgbClr val="FFFFFF"/>
                    </a:solidFill>
                  </a:tcPr>
                </a:tc>
                <a:tc>
                  <a:txBody>
                    <a:bodyPr/>
                    <a:lstStyle/>
                    <a:p>
                      <a:pPr>
                        <a:defRPr sz="1400" b="0">
                          <a:solidFill>
                            <a:srgbClr val="1C2628"/>
                          </a:solidFill>
                          <a:latin typeface="Calibri"/>
                        </a:defRPr>
                      </a:pPr>
                      <a:r>
                        <a:t>5.1%</a:t>
                      </a:r>
                    </a:p>
                  </a:txBody>
                  <a:tcPr anchor="ctr">
                    <a:solidFill>
                      <a:srgbClr val="FFFFFF"/>
                    </a:solidFill>
                  </a:tcPr>
                </a:tc>
                <a:tc>
                  <a:txBody>
                    <a:bodyPr/>
                    <a:lstStyle/>
                    <a:p>
                      <a:pPr>
                        <a:defRPr sz="1400" b="0">
                          <a:solidFill>
                            <a:srgbClr val="1C2628"/>
                          </a:solidFill>
                          <a:latin typeface="Calibri"/>
                        </a:defRPr>
                      </a:pPr>
                      <a:r>
                        <a:t>79.3%</a:t>
                      </a:r>
                    </a:p>
                  </a:txBody>
                  <a:tcPr anchor="ctr">
                    <a:solidFill>
                      <a:srgbClr val="FFFFFF"/>
                    </a:solidFill>
                  </a:tcPr>
                </a:tc>
              </a:tr>
              <a:tr h="475488">
                <a:tc>
                  <a:txBody>
                    <a:bodyPr/>
                    <a:lstStyle/>
                    <a:p>
                      <a:pPr>
                        <a:defRPr sz="1400" b="0">
                          <a:solidFill>
                            <a:srgbClr val="1C2628"/>
                          </a:solidFill>
                          <a:latin typeface="Calibri"/>
                        </a:defRPr>
                      </a:pPr>
                      <a:r>
                        <a:t>Acne vulgaris</a:t>
                      </a:r>
                    </a:p>
                  </a:txBody>
                  <a:tcPr anchor="ctr">
                    <a:solidFill>
                      <a:srgbClr val="FFFFFF"/>
                    </a:solidFill>
                  </a:tcPr>
                </a:tc>
                <a:tc>
                  <a:txBody>
                    <a:bodyPr/>
                    <a:lstStyle/>
                    <a:p>
                      <a:pPr>
                        <a:defRPr sz="1400" b="0">
                          <a:solidFill>
                            <a:srgbClr val="1C2628"/>
                          </a:solidFill>
                          <a:latin typeface="Calibri"/>
                        </a:defRPr>
                      </a:pPr>
                      <a:r>
                        <a:t>5.3%</a:t>
                      </a:r>
                    </a:p>
                  </a:txBody>
                  <a:tcPr anchor="ctr">
                    <a:solidFill>
                      <a:srgbClr val="FFFFFF"/>
                    </a:solidFill>
                  </a:tcPr>
                </a:tc>
                <a:tc>
                  <a:txBody>
                    <a:bodyPr/>
                    <a:lstStyle/>
                    <a:p>
                      <a:pPr>
                        <a:defRPr sz="1400" b="0">
                          <a:solidFill>
                            <a:srgbClr val="1C2628"/>
                          </a:solidFill>
                          <a:latin typeface="Calibri"/>
                        </a:defRPr>
                      </a:pPr>
                      <a:r>
                        <a:t>92.7%</a:t>
                      </a:r>
                    </a:p>
                  </a:txBody>
                  <a:tcPr anchor="ctr">
                    <a:solidFill>
                      <a:srgbClr val="FFFFFF"/>
                    </a:solidFill>
                  </a:tcPr>
                </a:tc>
              </a:tr>
            </a:tbl>
          </a:graphicData>
        </a:graphic>
      </p:graphicFrame>
      <p:sp>
        <p:nvSpPr>
          <p:cNvPr id="7" name="Rounded Rectangle 6"/>
          <p:cNvSpPr/>
          <p:nvPr/>
        </p:nvSpPr>
        <p:spPr>
          <a:xfrm>
            <a:off x="457200" y="4297680"/>
            <a:ext cx="11247120" cy="777240"/>
          </a:xfrm>
          <a:prstGeom prst="roundRect">
            <a:avLst/>
          </a:prstGeom>
          <a:solidFill>
            <a:srgbClr val="F2FAFB"/>
          </a:solidFill>
          <a:ln w="1270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defRPr sz="1600" i="1" b="1">
                <a:solidFill>
                  <a:srgbClr val="006B78"/>
                </a:solidFill>
                <a:latin typeface="Calibri"/>
              </a:defRPr>
            </a:pPr>
            <a:r>
              <a:t>The two conditions Ghana most needs classified are the two the model is worst at — the motivation for the curation pipeline covered later.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ARCHITECTURE</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System at a Glance</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04</a:t>
            </a:r>
          </a:p>
        </p:txBody>
      </p:sp>
      <p:sp>
        <p:nvSpPr>
          <p:cNvPr id="6" name="Rounded Rectangle 5"/>
          <p:cNvSpPr/>
          <p:nvPr/>
        </p:nvSpPr>
        <p:spPr>
          <a:xfrm>
            <a:off x="457200" y="1737360"/>
            <a:ext cx="2139696" cy="1051560"/>
          </a:xfrm>
          <a:prstGeom prst="round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Capture</a:t>
            </a:r>
            <a:br/>
            <a:r>
              <a:t>(camera / gallery)</a:t>
            </a:r>
          </a:p>
        </p:txBody>
      </p:sp>
      <p:sp>
        <p:nvSpPr>
          <p:cNvPr id="7" name="TextBox 6"/>
          <p:cNvSpPr txBox="1"/>
          <p:nvPr/>
        </p:nvSpPr>
        <p:spPr>
          <a:xfrm>
            <a:off x="2596896" y="2080260"/>
            <a:ext cx="137160" cy="365760"/>
          </a:xfrm>
          <a:prstGeom prst="rect">
            <a:avLst/>
          </a:prstGeom>
          <a:noFill/>
        </p:spPr>
        <p:txBody>
          <a:bodyPr wrap="none">
            <a:spAutoFit/>
          </a:bodyPr>
          <a:lstStyle/>
          <a:p>
            <a:pPr algn="ctr">
              <a:defRPr sz="2000" b="1">
                <a:solidFill>
                  <a:srgbClr val="E05A00"/>
                </a:solidFill>
              </a:defRPr>
            </a:pPr>
            <a:r>
              <a:t>→</a:t>
            </a:r>
          </a:p>
        </p:txBody>
      </p:sp>
      <p:sp>
        <p:nvSpPr>
          <p:cNvPr id="8" name="Rounded Rectangle 7"/>
          <p:cNvSpPr/>
          <p:nvPr/>
        </p:nvSpPr>
        <p:spPr>
          <a:xfrm>
            <a:off x="2734056" y="1737360"/>
            <a:ext cx="2139696" cy="1051560"/>
          </a:xfrm>
          <a:prstGeom prst="roundRect">
            <a:avLst/>
          </a:prstGeom>
          <a:solidFill>
            <a:srgbClr val="006B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3-Layer</a:t>
            </a:r>
            <a:br/>
            <a:r>
              <a:t>Capture Gate</a:t>
            </a:r>
          </a:p>
        </p:txBody>
      </p:sp>
      <p:sp>
        <p:nvSpPr>
          <p:cNvPr id="9" name="TextBox 8"/>
          <p:cNvSpPr txBox="1"/>
          <p:nvPr/>
        </p:nvSpPr>
        <p:spPr>
          <a:xfrm>
            <a:off x="4873752" y="2080260"/>
            <a:ext cx="137160" cy="365760"/>
          </a:xfrm>
          <a:prstGeom prst="rect">
            <a:avLst/>
          </a:prstGeom>
          <a:noFill/>
        </p:spPr>
        <p:txBody>
          <a:bodyPr wrap="none">
            <a:spAutoFit/>
          </a:bodyPr>
          <a:lstStyle/>
          <a:p>
            <a:pPr algn="ctr">
              <a:defRPr sz="2000" b="1">
                <a:solidFill>
                  <a:srgbClr val="E05A00"/>
                </a:solidFill>
              </a:defRPr>
            </a:pPr>
            <a:r>
              <a:t>→</a:t>
            </a:r>
          </a:p>
        </p:txBody>
      </p:sp>
      <p:sp>
        <p:nvSpPr>
          <p:cNvPr id="10" name="Rounded Rectangle 9"/>
          <p:cNvSpPr/>
          <p:nvPr/>
        </p:nvSpPr>
        <p:spPr>
          <a:xfrm>
            <a:off x="5010912" y="1737360"/>
            <a:ext cx="2139696" cy="1051560"/>
          </a:xfrm>
          <a:prstGeom prst="round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On-Device</a:t>
            </a:r>
            <a:br/>
            <a:r>
              <a:t>Disease Model</a:t>
            </a:r>
          </a:p>
        </p:txBody>
      </p:sp>
      <p:sp>
        <p:nvSpPr>
          <p:cNvPr id="11" name="TextBox 10"/>
          <p:cNvSpPr txBox="1"/>
          <p:nvPr/>
        </p:nvSpPr>
        <p:spPr>
          <a:xfrm>
            <a:off x="7150608" y="2080260"/>
            <a:ext cx="137160" cy="365760"/>
          </a:xfrm>
          <a:prstGeom prst="rect">
            <a:avLst/>
          </a:prstGeom>
          <a:noFill/>
        </p:spPr>
        <p:txBody>
          <a:bodyPr wrap="none">
            <a:spAutoFit/>
          </a:bodyPr>
          <a:lstStyle/>
          <a:p>
            <a:pPr algn="ctr">
              <a:defRPr sz="2000" b="1">
                <a:solidFill>
                  <a:srgbClr val="E05A00"/>
                </a:solidFill>
              </a:defRPr>
            </a:pPr>
            <a:r>
              <a:t>→</a:t>
            </a:r>
          </a:p>
        </p:txBody>
      </p:sp>
      <p:sp>
        <p:nvSpPr>
          <p:cNvPr id="12" name="Rounded Rectangle 11"/>
          <p:cNvSpPr/>
          <p:nvPr/>
        </p:nvSpPr>
        <p:spPr>
          <a:xfrm>
            <a:off x="7287768" y="1737360"/>
            <a:ext cx="2139696" cy="1051560"/>
          </a:xfrm>
          <a:prstGeom prst="roundRect">
            <a:avLst/>
          </a:prstGeom>
          <a:solidFill>
            <a:srgbClr val="006B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Prediction +</a:t>
            </a:r>
            <a:br/>
            <a:r>
              <a:t>CAM Heatmap</a:t>
            </a:r>
          </a:p>
        </p:txBody>
      </p:sp>
      <p:sp>
        <p:nvSpPr>
          <p:cNvPr id="13" name="TextBox 12"/>
          <p:cNvSpPr txBox="1"/>
          <p:nvPr/>
        </p:nvSpPr>
        <p:spPr>
          <a:xfrm>
            <a:off x="9427464" y="2080260"/>
            <a:ext cx="137160" cy="365760"/>
          </a:xfrm>
          <a:prstGeom prst="rect">
            <a:avLst/>
          </a:prstGeom>
          <a:noFill/>
        </p:spPr>
        <p:txBody>
          <a:bodyPr wrap="none">
            <a:spAutoFit/>
          </a:bodyPr>
          <a:lstStyle/>
          <a:p>
            <a:pPr algn="ctr">
              <a:defRPr sz="2000" b="1">
                <a:solidFill>
                  <a:srgbClr val="E05A00"/>
                </a:solidFill>
              </a:defRPr>
            </a:pPr>
            <a:r>
              <a:t>→</a:t>
            </a:r>
          </a:p>
        </p:txBody>
      </p:sp>
      <p:sp>
        <p:nvSpPr>
          <p:cNvPr id="14" name="Rounded Rectangle 13"/>
          <p:cNvSpPr/>
          <p:nvPr/>
        </p:nvSpPr>
        <p:spPr>
          <a:xfrm>
            <a:off x="9564624" y="1737360"/>
            <a:ext cx="2139696" cy="1051560"/>
          </a:xfrm>
          <a:prstGeom prst="round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Result Screen</a:t>
            </a:r>
          </a:p>
        </p:txBody>
      </p:sp>
      <p:sp>
        <p:nvSpPr>
          <p:cNvPr id="15" name="Rounded Rectangle 14"/>
          <p:cNvSpPr/>
          <p:nvPr/>
        </p:nvSpPr>
        <p:spPr>
          <a:xfrm>
            <a:off x="457200" y="3246120"/>
            <a:ext cx="5554980" cy="914400"/>
          </a:xfrm>
          <a:prstGeom prst="round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Low confidence /</a:t>
            </a:r>
            <a:br/>
            <a:r>
              <a:t>user request</a:t>
            </a:r>
          </a:p>
        </p:txBody>
      </p:sp>
      <p:sp>
        <p:nvSpPr>
          <p:cNvPr id="16" name="TextBox 15"/>
          <p:cNvSpPr txBox="1"/>
          <p:nvPr/>
        </p:nvSpPr>
        <p:spPr>
          <a:xfrm>
            <a:off x="6012180" y="3520440"/>
            <a:ext cx="137160" cy="365760"/>
          </a:xfrm>
          <a:prstGeom prst="rect">
            <a:avLst/>
          </a:prstGeom>
          <a:noFill/>
        </p:spPr>
        <p:txBody>
          <a:bodyPr wrap="none">
            <a:spAutoFit/>
          </a:bodyPr>
          <a:lstStyle/>
          <a:p>
            <a:pPr algn="ctr">
              <a:defRPr sz="2000" b="1">
                <a:solidFill>
                  <a:srgbClr val="E05A00"/>
                </a:solidFill>
              </a:defRPr>
            </a:pPr>
            <a:r>
              <a:t>→</a:t>
            </a:r>
          </a:p>
        </p:txBody>
      </p:sp>
      <p:sp>
        <p:nvSpPr>
          <p:cNvPr id="17" name="Rounded Rectangle 16"/>
          <p:cNvSpPr/>
          <p:nvPr/>
        </p:nvSpPr>
        <p:spPr>
          <a:xfrm>
            <a:off x="6149340" y="3246120"/>
            <a:ext cx="5554980" cy="914400"/>
          </a:xfrm>
          <a:prstGeom prst="roundRect">
            <a:avLst/>
          </a:prstGeom>
          <a:solidFill>
            <a:srgbClr val="006B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Telemedicine Referral</a:t>
            </a:r>
            <a:br/>
            <a:r>
              <a:t>(WhatsApp, de-identified)</a:t>
            </a:r>
          </a:p>
        </p:txBody>
      </p:sp>
      <p:sp>
        <p:nvSpPr>
          <p:cNvPr id="18" name="Rounded Rectangle 17"/>
          <p:cNvSpPr/>
          <p:nvPr/>
        </p:nvSpPr>
        <p:spPr>
          <a:xfrm>
            <a:off x="457200" y="4434840"/>
            <a:ext cx="3657600" cy="914400"/>
          </a:xfrm>
          <a:prstGeom prst="round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Explicit consent</a:t>
            </a:r>
            <a:br/>
            <a:r>
              <a:t>(opt-in)</a:t>
            </a:r>
          </a:p>
        </p:txBody>
      </p:sp>
      <p:sp>
        <p:nvSpPr>
          <p:cNvPr id="19" name="TextBox 18"/>
          <p:cNvSpPr txBox="1"/>
          <p:nvPr/>
        </p:nvSpPr>
        <p:spPr>
          <a:xfrm>
            <a:off x="4114800" y="4709160"/>
            <a:ext cx="137160" cy="365760"/>
          </a:xfrm>
          <a:prstGeom prst="rect">
            <a:avLst/>
          </a:prstGeom>
          <a:noFill/>
        </p:spPr>
        <p:txBody>
          <a:bodyPr wrap="none">
            <a:spAutoFit/>
          </a:bodyPr>
          <a:lstStyle/>
          <a:p>
            <a:pPr algn="ctr">
              <a:defRPr sz="2000" b="1">
                <a:solidFill>
                  <a:srgbClr val="E05A00"/>
                </a:solidFill>
              </a:defRPr>
            </a:pPr>
            <a:r>
              <a:t>→</a:t>
            </a:r>
          </a:p>
        </p:txBody>
      </p:sp>
      <p:sp>
        <p:nvSpPr>
          <p:cNvPr id="20" name="Rounded Rectangle 19"/>
          <p:cNvSpPr/>
          <p:nvPr/>
        </p:nvSpPr>
        <p:spPr>
          <a:xfrm>
            <a:off x="4251960" y="4434840"/>
            <a:ext cx="3657600" cy="914400"/>
          </a:xfrm>
          <a:prstGeom prst="roundRect">
            <a:avLst/>
          </a:prstGeom>
          <a:solidFill>
            <a:srgbClr val="006B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De-identify +</a:t>
            </a:r>
            <a:br/>
            <a:r>
              <a:t>Hash (on device)</a:t>
            </a:r>
          </a:p>
        </p:txBody>
      </p:sp>
      <p:sp>
        <p:nvSpPr>
          <p:cNvPr id="21" name="TextBox 20"/>
          <p:cNvSpPr txBox="1"/>
          <p:nvPr/>
        </p:nvSpPr>
        <p:spPr>
          <a:xfrm>
            <a:off x="7909560" y="4709160"/>
            <a:ext cx="137160" cy="365760"/>
          </a:xfrm>
          <a:prstGeom prst="rect">
            <a:avLst/>
          </a:prstGeom>
          <a:noFill/>
        </p:spPr>
        <p:txBody>
          <a:bodyPr wrap="none">
            <a:spAutoFit/>
          </a:bodyPr>
          <a:lstStyle/>
          <a:p>
            <a:pPr algn="ctr">
              <a:defRPr sz="2000" b="1">
                <a:solidFill>
                  <a:srgbClr val="E05A00"/>
                </a:solidFill>
              </a:defRPr>
            </a:pPr>
            <a:r>
              <a:t>→</a:t>
            </a:r>
          </a:p>
        </p:txBody>
      </p:sp>
      <p:sp>
        <p:nvSpPr>
          <p:cNvPr id="22" name="Rounded Rectangle 21"/>
          <p:cNvSpPr/>
          <p:nvPr/>
        </p:nvSpPr>
        <p:spPr>
          <a:xfrm>
            <a:off x="8046720" y="4434840"/>
            <a:ext cx="3657600" cy="914400"/>
          </a:xfrm>
          <a:prstGeom prst="round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Curation Pipeline</a:t>
            </a:r>
            <a:br/>
            <a:r>
              <a:t>→ Supabase</a:t>
            </a:r>
          </a:p>
        </p:txBody>
      </p:sp>
      <p:sp>
        <p:nvSpPr>
          <p:cNvPr id="23" name="Rounded Rectangle 22"/>
          <p:cNvSpPr/>
          <p:nvPr/>
        </p:nvSpPr>
        <p:spPr>
          <a:xfrm>
            <a:off x="457200" y="5577840"/>
            <a:ext cx="11247120" cy="685800"/>
          </a:xfrm>
          <a:prstGeom prst="roundRect">
            <a:avLst/>
          </a:prstGeom>
          <a:solidFill>
            <a:srgbClr val="F2FAFB"/>
          </a:solidFill>
          <a:ln w="1270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defRPr sz="1600" i="1" b="1">
                <a:solidFill>
                  <a:srgbClr val="006B78"/>
                </a:solidFill>
                <a:latin typeface="Calibri"/>
              </a:defRPr>
            </a:pPr>
            <a:r>
              <a:t>Referral and contribution are independent, opt-in paths off the same result screen — neither is required to get your result.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IMPLEMENTATION</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Android App Stack</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05</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2000" b="1">
                <a:solidFill>
                  <a:srgbClr val="1C2628"/>
                </a:solidFill>
                <a:latin typeface="Calibri"/>
              </a:defRPr>
            </a:pPr>
            <a:r>
              <a:t>●  Kotlin, Material 3 (DayNight theme), single navigation graph</a:t>
            </a:r>
          </a:p>
          <a:p>
            <a:pPr>
              <a:lnSpc>
                <a:spcPct val="125000"/>
              </a:lnSpc>
              <a:spcAft>
                <a:spcPts val="1000"/>
              </a:spcAft>
              <a:defRPr sz="2000" b="1">
                <a:solidFill>
                  <a:srgbClr val="1C2628"/>
                </a:solidFill>
                <a:latin typeface="Calibri"/>
              </a:defRPr>
            </a:pPr>
            <a:r>
              <a:t>●  ML runtime: TensorFlow Lite 2.17.0 — kept to a single ML dependency to avoid AGP 9.1 namespace conflicts</a:t>
            </a:r>
          </a:p>
          <a:p>
            <a:pPr>
              <a:lnSpc>
                <a:spcPct val="125000"/>
              </a:lnSpc>
              <a:spcAft>
                <a:spcPts val="1000"/>
              </a:spcAft>
              <a:defRPr sz="2000" b="1">
                <a:solidFill>
                  <a:srgbClr val="1C2628"/>
                </a:solidFill>
                <a:latin typeface="Calibri"/>
              </a:defRPr>
            </a:pPr>
            <a:r>
              <a:t>●  Local storage: Room (scan history + the curation outbox queue)</a:t>
            </a:r>
          </a:p>
          <a:p>
            <a:pPr>
              <a:lnSpc>
                <a:spcPct val="125000"/>
              </a:lnSpc>
              <a:spcAft>
                <a:spcPts val="1000"/>
              </a:spcAft>
              <a:defRPr sz="2000" b="1">
                <a:solidFill>
                  <a:srgbClr val="1C2628"/>
                </a:solidFill>
                <a:latin typeface="Calibri"/>
              </a:defRPr>
            </a:pPr>
            <a:r>
              <a:t>●  Identity: Firebase Auth + Firestore, three-tier roles (Clinician / Specialist / Admin)</a:t>
            </a:r>
          </a:p>
          <a:p>
            <a:pPr>
              <a:lnSpc>
                <a:spcPct val="125000"/>
              </a:lnSpc>
              <a:spcAft>
                <a:spcPts val="1000"/>
              </a:spcAft>
              <a:defRPr sz="2000" b="1">
                <a:solidFill>
                  <a:srgbClr val="1C2628"/>
                </a:solidFill>
                <a:latin typeface="Calibri"/>
              </a:defRPr>
            </a:pPr>
            <a:r>
              <a:t>●  Cloud storage: Supabase (Storage + Postgrest), West Europe region</a:t>
            </a:r>
          </a:p>
          <a:p>
            <a:pPr>
              <a:lnSpc>
                <a:spcPct val="125000"/>
              </a:lnSpc>
              <a:spcAft>
                <a:spcPts val="1000"/>
              </a:spcAft>
              <a:defRPr sz="2000" b="1">
                <a:solidFill>
                  <a:srgbClr val="1C2628"/>
                </a:solidFill>
                <a:latin typeface="Calibri"/>
              </a:defRPr>
            </a:pPr>
            <a:r>
              <a:t>●  Target device: Samsung SM-A320FL, Android 8 — the low-end phone that sets the latency budget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ON-DEVICE PIPELINE</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Is This Even Skin? — The Capture Gate</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06</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1900" b="1">
                <a:solidFill>
                  <a:srgbClr val="1C2628"/>
                </a:solidFill>
                <a:latin typeface="Calibri"/>
              </a:defRPr>
            </a:pPr>
            <a:r>
              <a:t>●  Layer 1 — SkinHeuristic: YCbCr colour-ratio maths, ~50ms, no model. Catches rooms, sky, grass, documents</a:t>
            </a:r>
          </a:p>
          <a:p>
            <a:pPr>
              <a:lnSpc>
                <a:spcPct val="125000"/>
              </a:lnSpc>
              <a:spcAft>
                <a:spcPts val="1000"/>
              </a:spcAft>
              <a:defRPr sz="1900" b="1">
                <a:solidFill>
                  <a:srgbClr val="1C2628"/>
                </a:solidFill>
                <a:latin typeface="Calibri"/>
              </a:defRPr>
            </a:pPr>
            <a:r>
              <a:t>●  Layer 2 — NotSkinGate: MobileNet v1 (ImageNet). A confident ImageNet-object prediction means it's a recognisable object, not skin</a:t>
            </a:r>
          </a:p>
          <a:p>
            <a:pPr>
              <a:lnSpc>
                <a:spcPct val="125000"/>
              </a:lnSpc>
              <a:spcAft>
                <a:spcPts val="1000"/>
              </a:spcAft>
              <a:defRPr sz="1900" b="1">
                <a:solidFill>
                  <a:srgbClr val="1C2628"/>
                </a:solidFill>
                <a:latin typeface="Calibri"/>
              </a:defRPr>
            </a:pPr>
            <a:r>
              <a:t>●  Layer 3 — SkinBinaryGate: MobileNetV2, domain-trained sigmoid. Threshold and output direction were determined empirically, not from documentation — the written description was inverted from what the model actually did</a:t>
            </a:r>
          </a:p>
          <a:p>
            <a:pPr>
              <a:lnSpc>
                <a:spcPct val="125000"/>
              </a:lnSpc>
              <a:spcAft>
                <a:spcPts val="1000"/>
              </a:spcAft>
              <a:defRPr sz="1900" b="1">
                <a:solidFill>
                  <a:srgbClr val="1C2628"/>
                </a:solidFill>
                <a:latin typeface="Calibri"/>
              </a:defRPr>
            </a:pPr>
            <a:r>
              <a:t>●  Models are loaded once via ModelCache and reused — constructing a fresh interpreter per scan was a real, measured latency cost before that fix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MACHINE LEARNING</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The Disease Classification Model</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07</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1900" b="1">
                <a:solidFill>
                  <a:srgbClr val="1C2628"/>
                </a:solidFill>
                <a:latin typeface="Calibri"/>
              </a:defRPr>
            </a:pPr>
            <a:r>
              <a:t>●  EfficientNetB0 (ImageNet weights) → GlobalAveragePooling → BatchNorm → Dense(256)+Dropout(0.5) → Dense(128)+Dropout(0.4) → Dense(4, softmax)</a:t>
            </a:r>
          </a:p>
          <a:p>
            <a:pPr>
              <a:lnSpc>
                <a:spcPct val="125000"/>
              </a:lnSpc>
              <a:spcAft>
                <a:spcPts val="1000"/>
              </a:spcAft>
              <a:defRPr sz="1900" b="1">
                <a:solidFill>
                  <a:srgbClr val="1C2628"/>
                </a:solidFill>
                <a:latin typeface="Calibri"/>
              </a:defRPr>
            </a:pPr>
            <a:r>
              <a:t>●  Input 224×224. Loss: categorical crossentropy, label smoothing 0.05</a:t>
            </a:r>
          </a:p>
          <a:p>
            <a:pPr lvl="1">
              <a:lnSpc>
                <a:spcPct val="125000"/>
              </a:lnSpc>
              <a:spcAft>
                <a:spcPts val="400"/>
              </a:spcAft>
              <a:defRPr sz="1600" b="0">
                <a:solidFill>
                  <a:srgbClr val="4A585B"/>
                </a:solidFill>
                <a:latin typeface="Calibri"/>
              </a:defRPr>
            </a:pPr>
            <a:r>
              <a:t>–  Phase 1 — base frozen, Adam 1e-3, 30 epochs</a:t>
            </a:r>
          </a:p>
          <a:p>
            <a:pPr lvl="1">
              <a:lnSpc>
                <a:spcPct val="125000"/>
              </a:lnSpc>
              <a:spcAft>
                <a:spcPts val="400"/>
              </a:spcAft>
              <a:defRPr sz="1600" b="0">
                <a:solidFill>
                  <a:srgbClr val="4A585B"/>
                </a:solidFill>
                <a:latin typeface="Calibri"/>
              </a:defRPr>
            </a:pPr>
            <a:r>
              <a:t>–  Phase 2 — unfrozen from layer 165 (BatchNorm layers stay frozen), Adam 2e-5 with cosine decay, 30 epochs</a:t>
            </a:r>
          </a:p>
          <a:p>
            <a:pPr>
              <a:lnSpc>
                <a:spcPct val="125000"/>
              </a:lnSpc>
              <a:spcAft>
                <a:spcPts val="1000"/>
              </a:spcAft>
              <a:defRPr sz="1900" b="1">
                <a:solidFill>
                  <a:srgbClr val="1C2628"/>
                </a:solidFill>
                <a:latin typeface="Calibri"/>
              </a:defRPr>
            </a:pPr>
            <a:r>
              <a:t>●  Exported as a dual-output TFLite model: class logits AND 7×7×1280 conv features, in one forward pass — this is what makes the on-device heatmap free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EXPLAINABILITY</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CAM, Not Grad-CAM — A Deliberate Distinction</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08</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1900" b="1">
                <a:solidFill>
                  <a:srgbClr val="1C2628"/>
                </a:solidFill>
                <a:latin typeface="Calibri"/>
              </a:defRPr>
            </a:pPr>
            <a:r>
              <a:t>●  In the training notebook: true Grad-CAM — per-image gradients via GradientTape</a:t>
            </a:r>
          </a:p>
          <a:p>
            <a:pPr>
              <a:lnSpc>
                <a:spcPct val="125000"/>
              </a:lnSpc>
              <a:spcAft>
                <a:spcPts val="1000"/>
              </a:spcAft>
              <a:defRPr sz="1900" b="1">
                <a:solidFill>
                  <a:srgbClr val="1C2628"/>
                </a:solidFill>
                <a:latin typeface="Calibri"/>
              </a:defRPr>
            </a:pPr>
            <a:r>
              <a:t>●  In the deployed app: TFLite cannot compute gradients at inference, so the notebook exports class-averaged pooled gradients (60 images/class) as fixed weights</a:t>
            </a:r>
          </a:p>
          <a:p>
            <a:pPr>
              <a:lnSpc>
                <a:spcPct val="125000"/>
              </a:lnSpc>
              <a:spcAft>
                <a:spcPts val="1000"/>
              </a:spcAft>
              <a:defRPr sz="1900" b="1">
                <a:solidFill>
                  <a:srgbClr val="1C2628"/>
                </a:solidFill>
                <a:latin typeface="Calibri"/>
              </a:defRPr>
            </a:pPr>
            <a:r>
              <a:t>●  The app multiplies its exported feature maps by those fixed per-class weights — no backprop needed on-device</a:t>
            </a:r>
          </a:p>
          <a:p>
            <a:pPr>
              <a:lnSpc>
                <a:spcPct val="125000"/>
              </a:lnSpc>
              <a:spcAft>
                <a:spcPts val="1000"/>
              </a:spcAft>
              <a:defRPr sz="1900" b="1">
                <a:solidFill>
                  <a:srgbClr val="1C2628"/>
                </a:solidFill>
                <a:latin typeface="Calibri"/>
              </a:defRPr>
            </a:pPr>
            <a:r>
              <a:t>●  Trade-off, stated plainly: the app's heatmap shows "what generally matters for this class," not "what mattered for this specific image" — coarser, and can miss atypically-located lesions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EVALUATION</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Results — 78.14% ± 0.83</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09</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1800" b="1">
                <a:solidFill>
                  <a:srgbClr val="1C2628"/>
                </a:solidFill>
                <a:latin typeface="Calibri"/>
              </a:defRPr>
            </a:pPr>
            <a:r>
              <a:t>●  Group-aware 5-fold cross-validation with test-time augmentation: 78.14% ± 0.83 (95% CI 77.4–78.9%). Without TTA: 76.83% ± 0.82</a:t>
            </a:r>
          </a:p>
          <a:p>
            <a:pPr>
              <a:lnSpc>
                <a:spcPct val="125000"/>
              </a:lnSpc>
              <a:spcAft>
                <a:spcPts val="1000"/>
              </a:spcAft>
              <a:defRPr sz="1800" b="1">
                <a:solidFill>
                  <a:srgbClr val="1C2628"/>
                </a:solidFill>
                <a:latin typeface="Calibri"/>
              </a:defRPr>
            </a:pPr>
            <a:r>
              <a:t>●  Mean AUC-ROC: 0.9571</a:t>
            </a:r>
          </a:p>
          <a:p>
            <a:pPr>
              <a:lnSpc>
                <a:spcPct val="125000"/>
              </a:lnSpc>
              <a:spcAft>
                <a:spcPts val="1000"/>
              </a:spcAft>
              <a:defRPr sz="1800" b="1">
                <a:solidFill>
                  <a:srgbClr val="1C2628"/>
                </a:solidFill>
                <a:latin typeface="Calibri"/>
              </a:defRPr>
            </a:pPr>
            <a:r>
              <a:t>●  Dataset: 1,976 images → 1,915 unique groups after perceptual-hash deduplication (61 redundant copies removed)</a:t>
            </a:r>
          </a:p>
          <a:p>
            <a:pPr>
              <a:lnSpc>
                <a:spcPct val="125000"/>
              </a:lnSpc>
              <a:spcAft>
                <a:spcPts val="1000"/>
              </a:spcAft>
              <a:defRPr sz="1800" b="1">
                <a:solidFill>
                  <a:srgbClr val="1C2628"/>
                </a:solidFill>
                <a:latin typeface="Calibri"/>
              </a:defRPr>
            </a:pPr>
            <a:r>
              <a:t>●  Tested and found NOT to help: EfficientNetB1 at 240px (worse, 75.20% ± 1.68); stronger regularisation (closed the train/val gap but not accuracy)</a:t>
            </a:r>
          </a:p>
          <a:p>
            <a:pPr>
              <a:lnSpc>
                <a:spcPct val="125000"/>
              </a:lnSpc>
              <a:spcAft>
                <a:spcPts val="1000"/>
              </a:spcAft>
              <a:defRPr sz="1800" b="1">
                <a:solidFill>
                  <a:srgbClr val="1C2628"/>
                </a:solidFill>
                <a:latin typeface="Calibri"/>
              </a:defRPr>
            </a:pPr>
            <a:r>
              <a:t>●  Conclusion: three materially different configurations all landed in the 74–78% band — the ceiling is dataset size and label quality, not model capacity</a:t>
            </a:r>
          </a:p>
        </p:txBody>
      </p:sp>
      <p:sp>
        <p:nvSpPr>
          <p:cNvPr id="7" name="Rounded Rectangle 6"/>
          <p:cNvSpPr/>
          <p:nvPr/>
        </p:nvSpPr>
        <p:spPr>
          <a:xfrm>
            <a:off x="457200" y="5760720"/>
            <a:ext cx="11247120" cy="640080"/>
          </a:xfrm>
          <a:prstGeom prst="roundRect">
            <a:avLst/>
          </a:prstGeom>
          <a:solidFill>
            <a:srgbClr val="F2FAFB"/>
          </a:solidFill>
          <a:ln w="1270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defRPr sz="1600" i="1" b="1">
                <a:solidFill>
                  <a:srgbClr val="006B78"/>
                </a:solidFill>
                <a:latin typeface="Calibri"/>
              </a:defRPr>
            </a:pPr>
            <a:r>
              <a:t>The app ships single-view inference (no TTA) — TTA would roughly 4× latency, which the Samsung A320 can't absorb.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METHODOLOGICAL RIGOR</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A Lesson in Verifying, Not Assuming</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10</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1800" b="1">
                <a:solidFill>
                  <a:srgbClr val="1C2628"/>
                </a:solidFill>
                <a:latin typeface="Calibri"/>
              </a:defRPr>
            </a:pPr>
            <a:r>
              <a:t>●  Anomaly noticed: test accuracy (83.5%) was above validation accuracy (79.4%) — backwards, and correctly treated as suspicious rather than good news</a:t>
            </a:r>
          </a:p>
          <a:p>
            <a:pPr>
              <a:lnSpc>
                <a:spcPct val="125000"/>
              </a:lnSpc>
              <a:spcAft>
                <a:spcPts val="1000"/>
              </a:spcAft>
              <a:defRPr sz="1800" b="1">
                <a:solidFill>
                  <a:srgbClr val="1C2628"/>
                </a:solidFill>
                <a:latin typeface="Calibri"/>
              </a:defRPr>
            </a:pPr>
            <a:r>
              <a:t>●  Investigation found 30 cross-dataset near-duplicate images — the same clinical photo appearing in different public datasets under different filenames</a:t>
            </a:r>
          </a:p>
          <a:p>
            <a:pPr>
              <a:lnSpc>
                <a:spcPct val="125000"/>
              </a:lnSpc>
              <a:spcAft>
                <a:spcPts val="1000"/>
              </a:spcAft>
              <a:defRPr sz="1800" b="1">
                <a:solidFill>
                  <a:srgbClr val="1C2628"/>
                </a:solidFill>
                <a:latin typeface="Calibri"/>
              </a:defRPr>
            </a:pPr>
            <a:r>
              <a:t>●  Fixed properly: perceptual-hash clustering (DCT-based, Hamming ≤5) + union-find, then split by group so every copy of an image stays in one split</a:t>
            </a:r>
          </a:p>
          <a:p>
            <a:pPr>
              <a:lnSpc>
                <a:spcPct val="125000"/>
              </a:lnSpc>
              <a:spcAft>
                <a:spcPts val="1000"/>
              </a:spcAft>
              <a:defRPr sz="1800" b="1">
                <a:solidFill>
                  <a:srgbClr val="1C2628"/>
                </a:solidFill>
                <a:latin typeface="Calibri"/>
              </a:defRPr>
            </a:pPr>
            <a:r>
              <a:t>●  The actual cause of the anomaly turned out to be different: comparing training-time val_accuracy against a differently-computed test accuracy — fixed by scoring all three splits through an identical code path</a:t>
            </a:r>
          </a:p>
        </p:txBody>
      </p:sp>
      <p:sp>
        <p:nvSpPr>
          <p:cNvPr id="7" name="Rounded Rectangle 6"/>
          <p:cNvSpPr/>
          <p:nvPr/>
        </p:nvSpPr>
        <p:spPr>
          <a:xfrm>
            <a:off x="457200" y="5760720"/>
            <a:ext cx="11247120" cy="640080"/>
          </a:xfrm>
          <a:prstGeom prst="roundRect">
            <a:avLst/>
          </a:prstGeom>
          <a:solidFill>
            <a:srgbClr val="F2FAFB"/>
          </a:solidFill>
          <a:ln w="1270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defRPr sz="1600" i="1" b="1">
                <a:solidFill>
                  <a:srgbClr val="006B78"/>
                </a:solidFill>
                <a:latin typeface="Calibri"/>
              </a:defRPr>
            </a:pPr>
            <a:r>
              <a:t>That same perceptual-hash algorithm is reused, unchanged, in the live collection pipeline's duplicate rejection — covered next.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PRODUCT FEATURES</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Beyond Classification</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11</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1900" b="1">
                <a:solidFill>
                  <a:srgbClr val="1C2628"/>
                </a:solidFill>
                <a:latin typeface="Calibri"/>
              </a:defRPr>
            </a:pPr>
            <a:r>
              <a:t>●  Confidence gate — predictions below 50% show a caution note, tying directly into the telemedicine referral path</a:t>
            </a:r>
          </a:p>
          <a:p>
            <a:pPr>
              <a:lnSpc>
                <a:spcPct val="125000"/>
              </a:lnSpc>
              <a:spcAft>
                <a:spcPts val="1000"/>
              </a:spcAft>
              <a:defRPr sz="1900" b="1">
                <a:solidFill>
                  <a:srgbClr val="1C2628"/>
                </a:solidFill>
                <a:latin typeface="Calibri"/>
              </a:defRPr>
            </a:pPr>
            <a:r>
              <a:t>●  Telemedicine referral — de-identified composite image (photo + prediction + heatmap, no name/patient ID), sent via WhatsApp's native share; store-and-forward, works over intermittent connectivity</a:t>
            </a:r>
          </a:p>
          <a:p>
            <a:pPr>
              <a:lnSpc>
                <a:spcPct val="125000"/>
              </a:lnSpc>
              <a:spcAft>
                <a:spcPts val="1000"/>
              </a:spcAft>
              <a:defRPr sz="1900" b="1">
                <a:solidFill>
                  <a:srgbClr val="1C2628"/>
                </a:solidFill>
                <a:latin typeface="Calibri"/>
              </a:defRPr>
            </a:pPr>
            <a:r>
              <a:t>●  Explicit consent flow, entirely separate from the diagnosis flow — a user gets their result whether or not they contribute an image</a:t>
            </a:r>
          </a:p>
          <a:p>
            <a:pPr>
              <a:lnSpc>
                <a:spcPct val="125000"/>
              </a:lnSpc>
              <a:spcAft>
                <a:spcPts val="1000"/>
              </a:spcAft>
              <a:defRPr sz="1900" b="1">
                <a:solidFill>
                  <a:srgbClr val="1C2628"/>
                </a:solidFill>
                <a:latin typeface="Calibri"/>
              </a:defRPr>
            </a:pPr>
            <a:r>
              <a:t>●  Firebase Auth + Firestore: three-tier roles — Clinician, Specialist, Admin</a:t>
            </a:r>
          </a:p>
          <a:p>
            <a:pPr>
              <a:lnSpc>
                <a:spcPct val="125000"/>
              </a:lnSpc>
              <a:spcAft>
                <a:spcPts val="1000"/>
              </a:spcAft>
              <a:defRPr sz="1900" b="1">
                <a:solidFill>
                  <a:srgbClr val="1C2628"/>
                </a:solidFill>
                <a:latin typeface="Calibri"/>
              </a:defRPr>
            </a:pPr>
            <a:r>
              <a:t>●  Room-backed local scan history; ModelCache releases TFLite interpreters under memory pressure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PART TWO — DATA CURATION PIPELINE</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The Data Problem</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12</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2200" b="1">
                <a:solidFill>
                  <a:srgbClr val="1C2628"/>
                </a:solidFill>
                <a:latin typeface="Calibri"/>
              </a:defRPr>
            </a:pPr>
            <a:r>
              <a:t>●  Accuracy ceiling is data, not architecture — shown on slide 9: three different model configurations all landed in the same 74–78% band</a:t>
            </a:r>
          </a:p>
          <a:p>
            <a:pPr>
              <a:lnSpc>
                <a:spcPct val="125000"/>
              </a:lnSpc>
              <a:spcAft>
                <a:spcPts val="1000"/>
              </a:spcAft>
              <a:defRPr sz="2200" b="1">
                <a:solidFill>
                  <a:srgbClr val="1C2628"/>
                </a:solidFill>
                <a:latin typeface="Calibri"/>
              </a:defRPr>
            </a:pPr>
            <a:r>
              <a:t>●  Training data comes from public, Western-skewed dermatology datasets — roughly 500 images per class, with no dermatologist verification</a:t>
            </a:r>
          </a:p>
          <a:p>
            <a:pPr>
              <a:lnSpc>
                <a:spcPct val="125000"/>
              </a:lnSpc>
              <a:spcAft>
                <a:spcPts val="1000"/>
              </a:spcAft>
              <a:defRPr sz="2200" b="1">
                <a:solidFill>
                  <a:srgbClr val="1C2628"/>
                </a:solidFill>
                <a:latin typeface="Calibri"/>
              </a:defRPr>
            </a:pPr>
            <a:r>
              <a:t>●  The two conditions Ghana most needs classified are the two the model is worst at</a:t>
            </a:r>
          </a:p>
        </p:txBody>
      </p:sp>
      <p:sp>
        <p:nvSpPr>
          <p:cNvPr id="7" name="Rounded Rectangle 6"/>
          <p:cNvSpPr/>
          <p:nvPr/>
        </p:nvSpPr>
        <p:spPr>
          <a:xfrm>
            <a:off x="457200" y="4206240"/>
            <a:ext cx="11247120" cy="914400"/>
          </a:xfrm>
          <a:prstGeom prst="roundRect">
            <a:avLst/>
          </a:prstGeom>
          <a:solidFill>
            <a:srgbClr val="F2FAFB"/>
          </a:solidFill>
          <a:ln w="1270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defRPr sz="1600" i="1" b="1">
                <a:solidFill>
                  <a:srgbClr val="006B78"/>
                </a:solidFill>
                <a:latin typeface="Calibri"/>
              </a:defRPr>
            </a:pPr>
            <a:r>
              <a:t>The pipeline's purpose: turn real app usage into a consented, de-identified, expert-labelled, locally-representative dataset.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CURATION PIPELINE</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On-Device: From Consent to Queued Upload</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13</a:t>
            </a:r>
          </a:p>
        </p:txBody>
      </p:sp>
      <p:sp>
        <p:nvSpPr>
          <p:cNvPr id="6" name="Rounded Rectangle 5"/>
          <p:cNvSpPr/>
          <p:nvPr/>
        </p:nvSpPr>
        <p:spPr>
          <a:xfrm>
            <a:off x="457200" y="1828800"/>
            <a:ext cx="2139696" cy="1371600"/>
          </a:xfrm>
          <a:prstGeom prst="round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Verify screen</a:t>
            </a:r>
            <a:br/>
            <a:r>
              <a:t>(confirm/correct label)</a:t>
            </a:r>
          </a:p>
        </p:txBody>
      </p:sp>
      <p:sp>
        <p:nvSpPr>
          <p:cNvPr id="7" name="TextBox 6"/>
          <p:cNvSpPr txBox="1"/>
          <p:nvPr/>
        </p:nvSpPr>
        <p:spPr>
          <a:xfrm>
            <a:off x="2596896" y="2331720"/>
            <a:ext cx="137160" cy="365760"/>
          </a:xfrm>
          <a:prstGeom prst="rect">
            <a:avLst/>
          </a:prstGeom>
          <a:noFill/>
        </p:spPr>
        <p:txBody>
          <a:bodyPr wrap="none">
            <a:spAutoFit/>
          </a:bodyPr>
          <a:lstStyle/>
          <a:p>
            <a:pPr algn="ctr">
              <a:defRPr sz="2000" b="1">
                <a:solidFill>
                  <a:srgbClr val="E05A00"/>
                </a:solidFill>
              </a:defRPr>
            </a:pPr>
            <a:r>
              <a:t>→</a:t>
            </a:r>
          </a:p>
        </p:txBody>
      </p:sp>
      <p:sp>
        <p:nvSpPr>
          <p:cNvPr id="8" name="Rounded Rectangle 7"/>
          <p:cNvSpPr/>
          <p:nvPr/>
        </p:nvSpPr>
        <p:spPr>
          <a:xfrm>
            <a:off x="2734056" y="1828800"/>
            <a:ext cx="2139696" cy="1371600"/>
          </a:xfrm>
          <a:prstGeom prst="roundRect">
            <a:avLst/>
          </a:prstGeom>
          <a:solidFill>
            <a:srgbClr val="006B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Consent</a:t>
            </a:r>
            <a:br/>
            <a:r>
              <a:t>(opt-in, versioned)</a:t>
            </a:r>
          </a:p>
        </p:txBody>
      </p:sp>
      <p:sp>
        <p:nvSpPr>
          <p:cNvPr id="9" name="TextBox 8"/>
          <p:cNvSpPr txBox="1"/>
          <p:nvPr/>
        </p:nvSpPr>
        <p:spPr>
          <a:xfrm>
            <a:off x="4873752" y="2331720"/>
            <a:ext cx="137160" cy="365760"/>
          </a:xfrm>
          <a:prstGeom prst="rect">
            <a:avLst/>
          </a:prstGeom>
          <a:noFill/>
        </p:spPr>
        <p:txBody>
          <a:bodyPr wrap="none">
            <a:spAutoFit/>
          </a:bodyPr>
          <a:lstStyle/>
          <a:p>
            <a:pPr algn="ctr">
              <a:defRPr sz="2000" b="1">
                <a:solidFill>
                  <a:srgbClr val="E05A00"/>
                </a:solidFill>
              </a:defRPr>
            </a:pPr>
            <a:r>
              <a:t>→</a:t>
            </a:r>
          </a:p>
        </p:txBody>
      </p:sp>
      <p:sp>
        <p:nvSpPr>
          <p:cNvPr id="10" name="Rounded Rectangle 9"/>
          <p:cNvSpPr/>
          <p:nvPr/>
        </p:nvSpPr>
        <p:spPr>
          <a:xfrm>
            <a:off x="5010912" y="1828800"/>
            <a:ext cx="2139696" cy="1371600"/>
          </a:xfrm>
          <a:prstGeom prst="round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De-identify</a:t>
            </a:r>
            <a:br/>
            <a:r>
              <a:t>(EXIF/GPS strip,</a:t>
            </a:r>
            <a:br/>
            <a:r>
              <a:t>downscale, face reject)</a:t>
            </a:r>
          </a:p>
        </p:txBody>
      </p:sp>
      <p:sp>
        <p:nvSpPr>
          <p:cNvPr id="11" name="TextBox 10"/>
          <p:cNvSpPr txBox="1"/>
          <p:nvPr/>
        </p:nvSpPr>
        <p:spPr>
          <a:xfrm>
            <a:off x="7150608" y="2331720"/>
            <a:ext cx="137160" cy="365760"/>
          </a:xfrm>
          <a:prstGeom prst="rect">
            <a:avLst/>
          </a:prstGeom>
          <a:noFill/>
        </p:spPr>
        <p:txBody>
          <a:bodyPr wrap="none">
            <a:spAutoFit/>
          </a:bodyPr>
          <a:lstStyle/>
          <a:p>
            <a:pPr algn="ctr">
              <a:defRPr sz="2000" b="1">
                <a:solidFill>
                  <a:srgbClr val="E05A00"/>
                </a:solidFill>
              </a:defRPr>
            </a:pPr>
            <a:r>
              <a:t>→</a:t>
            </a:r>
          </a:p>
        </p:txBody>
      </p:sp>
      <p:sp>
        <p:nvSpPr>
          <p:cNvPr id="12" name="Rounded Rectangle 11"/>
          <p:cNvSpPr/>
          <p:nvPr/>
        </p:nvSpPr>
        <p:spPr>
          <a:xfrm>
            <a:off x="7287768" y="1828800"/>
            <a:ext cx="2139696" cy="1371600"/>
          </a:xfrm>
          <a:prstGeom prst="roundRect">
            <a:avLst/>
          </a:prstGeom>
          <a:solidFill>
            <a:srgbClr val="006B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Perceptual hash</a:t>
            </a:r>
            <a:br/>
            <a:r>
              <a:t>(on-device DCT)</a:t>
            </a:r>
          </a:p>
        </p:txBody>
      </p:sp>
      <p:sp>
        <p:nvSpPr>
          <p:cNvPr id="13" name="TextBox 12"/>
          <p:cNvSpPr txBox="1"/>
          <p:nvPr/>
        </p:nvSpPr>
        <p:spPr>
          <a:xfrm>
            <a:off x="9427464" y="2331720"/>
            <a:ext cx="137160" cy="365760"/>
          </a:xfrm>
          <a:prstGeom prst="rect">
            <a:avLst/>
          </a:prstGeom>
          <a:noFill/>
        </p:spPr>
        <p:txBody>
          <a:bodyPr wrap="none">
            <a:spAutoFit/>
          </a:bodyPr>
          <a:lstStyle/>
          <a:p>
            <a:pPr algn="ctr">
              <a:defRPr sz="2000" b="1">
                <a:solidFill>
                  <a:srgbClr val="E05A00"/>
                </a:solidFill>
              </a:defRPr>
            </a:pPr>
            <a:r>
              <a:t>→</a:t>
            </a:r>
          </a:p>
        </p:txBody>
      </p:sp>
      <p:sp>
        <p:nvSpPr>
          <p:cNvPr id="14" name="Rounded Rectangle 13"/>
          <p:cNvSpPr/>
          <p:nvPr/>
        </p:nvSpPr>
        <p:spPr>
          <a:xfrm>
            <a:off x="9564624" y="1828800"/>
            <a:ext cx="2139696" cy="1371600"/>
          </a:xfrm>
          <a:prstGeom prst="round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Room outbox</a:t>
            </a:r>
            <a:br/>
            <a:r>
              <a:t>(survives restart)</a:t>
            </a:r>
          </a:p>
        </p:txBody>
      </p:sp>
      <p:sp>
        <p:nvSpPr>
          <p:cNvPr id="15" name="TextBox 14"/>
          <p:cNvSpPr txBox="1"/>
          <p:nvPr/>
        </p:nvSpPr>
        <p:spPr>
          <a:xfrm>
            <a:off x="457200" y="3657600"/>
            <a:ext cx="11247120" cy="4846320"/>
          </a:xfrm>
          <a:prstGeom prst="rect">
            <a:avLst/>
          </a:prstGeom>
          <a:noFill/>
        </p:spPr>
        <p:txBody>
          <a:bodyPr wrap="square">
            <a:spAutoFit/>
          </a:bodyPr>
          <a:lstStyle/>
          <a:p>
            <a:pPr>
              <a:lnSpc>
                <a:spcPct val="125000"/>
              </a:lnSpc>
              <a:spcAft>
                <a:spcPts val="1000"/>
              </a:spcAft>
              <a:defRPr sz="1800" b="1">
                <a:solidFill>
                  <a:srgbClr val="1C2628"/>
                </a:solidFill>
                <a:latin typeface="Calibri"/>
              </a:defRPr>
            </a:pPr>
            <a:r>
              <a:t>●  WorkManager drains the outbox — WiFi-preferred by default, exponential backoff, survives an app kill or a dead connection</a:t>
            </a:r>
          </a:p>
        </p:txBody>
      </p:sp>
      <p:sp>
        <p:nvSpPr>
          <p:cNvPr id="16" name="Rounded Rectangle 15"/>
          <p:cNvSpPr/>
          <p:nvPr/>
        </p:nvSpPr>
        <p:spPr>
          <a:xfrm>
            <a:off x="457200" y="5623560"/>
            <a:ext cx="11247120" cy="685800"/>
          </a:xfrm>
          <a:prstGeom prst="roundRect">
            <a:avLst/>
          </a:prstGeom>
          <a:solidFill>
            <a:srgbClr val="F2FAFB"/>
          </a:solidFill>
          <a:ln w="1270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defRPr sz="1600" i="1" b="1">
                <a:solidFill>
                  <a:srgbClr val="006B78"/>
                </a:solidFill>
                <a:latin typeface="Calibri"/>
              </a:defRPr>
            </a:pPr>
            <a:r>
              <a:t>Consent and referral are independent, opt-in decisions — a user gets their result regardless of either choice.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CURATION PIPELINE</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Server-Side: Supabase</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14</a:t>
            </a:r>
          </a:p>
        </p:txBody>
      </p:sp>
      <p:sp>
        <p:nvSpPr>
          <p:cNvPr id="6" name="Rounded Rectangle 5"/>
          <p:cNvSpPr/>
          <p:nvPr/>
        </p:nvSpPr>
        <p:spPr>
          <a:xfrm>
            <a:off x="457200" y="1828800"/>
            <a:ext cx="3657600" cy="1280160"/>
          </a:xfrm>
          <a:prstGeom prst="round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register_contribution</a:t>
            </a:r>
            <a:br/>
            <a:r>
              <a:t>(global pHash dedup</a:t>
            </a:r>
            <a:br/>
            <a:r>
              <a:t>check)</a:t>
            </a:r>
          </a:p>
        </p:txBody>
      </p:sp>
      <p:sp>
        <p:nvSpPr>
          <p:cNvPr id="7" name="TextBox 6"/>
          <p:cNvSpPr txBox="1"/>
          <p:nvPr/>
        </p:nvSpPr>
        <p:spPr>
          <a:xfrm>
            <a:off x="4114800" y="2286000"/>
            <a:ext cx="137160" cy="365760"/>
          </a:xfrm>
          <a:prstGeom prst="rect">
            <a:avLst/>
          </a:prstGeom>
          <a:noFill/>
        </p:spPr>
        <p:txBody>
          <a:bodyPr wrap="none">
            <a:spAutoFit/>
          </a:bodyPr>
          <a:lstStyle/>
          <a:p>
            <a:pPr algn="ctr">
              <a:defRPr sz="2000" b="1">
                <a:solidFill>
                  <a:srgbClr val="E05A00"/>
                </a:solidFill>
              </a:defRPr>
            </a:pPr>
            <a:r>
              <a:t>→</a:t>
            </a:r>
          </a:p>
        </p:txBody>
      </p:sp>
      <p:sp>
        <p:nvSpPr>
          <p:cNvPr id="8" name="Rounded Rectangle 7"/>
          <p:cNvSpPr/>
          <p:nvPr/>
        </p:nvSpPr>
        <p:spPr>
          <a:xfrm>
            <a:off x="4251960" y="1828800"/>
            <a:ext cx="3657600" cy="1280160"/>
          </a:xfrm>
          <a:prstGeom prst="roundRect">
            <a:avLst/>
          </a:prstGeom>
          <a:solidFill>
            <a:srgbClr val="006B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Storage upload</a:t>
            </a:r>
            <a:br/>
            <a:r>
              <a:t>(reserved path)</a:t>
            </a:r>
          </a:p>
        </p:txBody>
      </p:sp>
      <p:sp>
        <p:nvSpPr>
          <p:cNvPr id="9" name="TextBox 8"/>
          <p:cNvSpPr txBox="1"/>
          <p:nvPr/>
        </p:nvSpPr>
        <p:spPr>
          <a:xfrm>
            <a:off x="7909560" y="2286000"/>
            <a:ext cx="137160" cy="365760"/>
          </a:xfrm>
          <a:prstGeom prst="rect">
            <a:avLst/>
          </a:prstGeom>
          <a:noFill/>
        </p:spPr>
        <p:txBody>
          <a:bodyPr wrap="none">
            <a:spAutoFit/>
          </a:bodyPr>
          <a:lstStyle/>
          <a:p>
            <a:pPr algn="ctr">
              <a:defRPr sz="2000" b="1">
                <a:solidFill>
                  <a:srgbClr val="E05A00"/>
                </a:solidFill>
              </a:defRPr>
            </a:pPr>
            <a:r>
              <a:t>→</a:t>
            </a:r>
          </a:p>
        </p:txBody>
      </p:sp>
      <p:sp>
        <p:nvSpPr>
          <p:cNvPr id="10" name="Rounded Rectangle 9"/>
          <p:cNvSpPr/>
          <p:nvPr/>
        </p:nvSpPr>
        <p:spPr>
          <a:xfrm>
            <a:off x="8046720" y="1828800"/>
            <a:ext cx="3657600" cy="1280160"/>
          </a:xfrm>
          <a:prstGeom prst="round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00" b="1">
                <a:solidFill>
                  <a:srgbClr val="FFFFFF"/>
                </a:solidFill>
                <a:latin typeface="Calibri"/>
              </a:defRPr>
            </a:pPr>
            <a:r>
              <a:t>mark_contribution_stored</a:t>
            </a:r>
            <a:br/>
            <a:r>
              <a:t>(verifies bytes</a:t>
            </a:r>
            <a:br/>
            <a:r>
              <a:t>actually exist)</a:t>
            </a:r>
          </a:p>
        </p:txBody>
      </p:sp>
      <p:sp>
        <p:nvSpPr>
          <p:cNvPr id="11" name="TextBox 10"/>
          <p:cNvSpPr txBox="1"/>
          <p:nvPr/>
        </p:nvSpPr>
        <p:spPr>
          <a:xfrm>
            <a:off x="457200" y="3566160"/>
            <a:ext cx="11247120" cy="4846320"/>
          </a:xfrm>
          <a:prstGeom prst="rect">
            <a:avLst/>
          </a:prstGeom>
          <a:noFill/>
        </p:spPr>
        <p:txBody>
          <a:bodyPr wrap="square">
            <a:spAutoFit/>
          </a:bodyPr>
          <a:lstStyle/>
          <a:p>
            <a:pPr>
              <a:lnSpc>
                <a:spcPct val="125000"/>
              </a:lnSpc>
              <a:spcAft>
                <a:spcPts val="1000"/>
              </a:spcAft>
              <a:defRPr sz="1800" b="1">
                <a:solidFill>
                  <a:srgbClr val="1C2628"/>
                </a:solidFill>
                <a:latin typeface="Calibri"/>
              </a:defRPr>
            </a:pPr>
            <a:r>
              <a:t>●  Images organised by the verified label: contributions/&lt;label&gt;/&lt;uuid&gt;.jpg</a:t>
            </a:r>
          </a:p>
          <a:p>
            <a:pPr>
              <a:lnSpc>
                <a:spcPct val="125000"/>
              </a:lnSpc>
              <a:spcAft>
                <a:spcPts val="1000"/>
              </a:spcAft>
              <a:defRPr sz="1800" b="1">
                <a:solidFill>
                  <a:srgbClr val="1C2628"/>
                </a:solidFill>
                <a:latin typeface="Calibri"/>
              </a:defRPr>
            </a:pPr>
            <a:r>
              <a:t>●  No table read access for contributors, enforced by the database (Row-Level Security + SECURITY DEFINER functions) — not just by the app choosing not to ask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PRIVACY &amp; ETHICS</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Privacy By Design, Not By Policy</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15</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1700" b="1">
                <a:solidFill>
                  <a:srgbClr val="1C2628"/>
                </a:solidFill>
                <a:latin typeface="Calibri"/>
              </a:defRPr>
            </a:pPr>
            <a:r>
              <a:t>●  Never leaves the device unmodified: raw camera file, EXIF, GPS, timestamps finer than a date, Firebase UID, device identifier</a:t>
            </a:r>
          </a:p>
          <a:p>
            <a:pPr>
              <a:lnSpc>
                <a:spcPct val="125000"/>
              </a:lnSpc>
              <a:spcAft>
                <a:spcPts val="1000"/>
              </a:spcAft>
              <a:defRPr sz="1700" b="1">
                <a:solidFill>
                  <a:srgbClr val="1C2628"/>
                </a:solidFill>
                <a:latin typeface="Calibri"/>
              </a:defRPr>
            </a:pPr>
            <a:r>
              <a:t>●  Face-containing images are rejected outright — checked again at contribution time, as a backstop independent of the capture-time face toggle</a:t>
            </a:r>
          </a:p>
          <a:p>
            <a:pPr>
              <a:lnSpc>
                <a:spcPct val="125000"/>
              </a:lnSpc>
              <a:spcAft>
                <a:spcPts val="1000"/>
              </a:spcAft>
              <a:defRPr sz="1700" b="1">
                <a:solidFill>
                  <a:srgbClr val="1C2628"/>
                </a:solidFill>
                <a:latin typeface="Calibri"/>
              </a:defRPr>
            </a:pPr>
            <a:r>
              <a:t>●  Consent is versioned (e.g. consent-v1-2026-08) and recorded locally before any upload is attempted, so the record survives an upload failure</a:t>
            </a:r>
          </a:p>
          <a:p>
            <a:pPr>
              <a:lnSpc>
                <a:spcPct val="125000"/>
              </a:lnSpc>
              <a:spcAft>
                <a:spcPts val="1000"/>
              </a:spcAft>
              <a:defRPr sz="1700" b="1">
                <a:solidFill>
                  <a:srgbClr val="1C2628"/>
                </a:solidFill>
                <a:latin typeface="Calibri"/>
              </a:defRPr>
            </a:pPr>
            <a:r>
              <a:t>●  Withdrawal deletes the stored image immediately — and the consent text says plainly that an image already baked into a published, trained model cannot be un-trained</a:t>
            </a:r>
          </a:p>
          <a:p>
            <a:pPr>
              <a:lnSpc>
                <a:spcPct val="125000"/>
              </a:lnSpc>
              <a:spcAft>
                <a:spcPts val="1000"/>
              </a:spcAft>
              <a:defRPr sz="1700" b="1">
                <a:solidFill>
                  <a:srgbClr val="1C2628"/>
                </a:solidFill>
                <a:latin typeface="Calibri"/>
              </a:defRPr>
            </a:pPr>
            <a:r>
              <a:t>●  Collection at scale requires institutional ethical clearance; until granted, team-members-only, stated openly rather than quietly collecting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ENGINEERING PROCESS</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Finding the Real Bug — Three Layers Deep</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16</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1700" b="1">
                <a:solidFill>
                  <a:srgbClr val="1C2628"/>
                </a:solidFill>
                <a:latin typeface="Calibri"/>
              </a:defRPr>
            </a:pPr>
            <a:r>
              <a:t>●  1 — A leftover dashboard policy let any contributor read the entire bucket, not just their own upload. Found by inspecting live policies directly, not assumed. Dropped.</a:t>
            </a:r>
          </a:p>
          <a:p>
            <a:pPr>
              <a:lnSpc>
                <a:spcPct val="125000"/>
              </a:lnSpc>
              <a:spcAft>
                <a:spcPts val="1000"/>
              </a:spcAft>
              <a:defRPr sz="1700" b="1">
                <a:solidFill>
                  <a:srgbClr val="1C2628"/>
                </a:solidFill>
                <a:latin typeface="Calibri"/>
              </a:defRPr>
            </a:pPr>
            <a:r>
              <a:t>●  2 — Uploads failed with an RLS error even though the write policy plainly matched. Root cause: Postgres implements "upsert" as INSERT…ON CONFLICT DO UPDATE, which needs a base SELECT privilege the app's role didn't have — separate from, and in addition to, any RLS policy. Fixed by removing upsert; it wasn't needed anyway</a:t>
            </a:r>
          </a:p>
          <a:p>
            <a:pPr>
              <a:lnSpc>
                <a:spcPct val="125000"/>
              </a:lnSpc>
              <a:spcAft>
                <a:spcPts val="1000"/>
              </a:spcAft>
              <a:defRPr sz="1700" b="1">
                <a:solidFill>
                  <a:srgbClr val="1C2628"/>
                </a:solidFill>
                <a:latin typeface="Calibri"/>
              </a:defRPr>
            </a:pPr>
            <a:r>
              <a:t>●  3 — A false positive nearly shipped: rows were marked "stored" with zero actual bytes anywhere in the bucket. Fixed by making the server verify the object exists before it will trust the client's claim of success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SCALE</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One Shared Dataset, Many Contributors</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17</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2100" b="1">
                <a:solidFill>
                  <a:srgbClr val="1C2628"/>
                </a:solidFill>
                <a:latin typeface="Calibri"/>
              </a:defRPr>
            </a:pPr>
            <a:r>
              <a:t>●  Every install of the app shares the same Supabase project — not per-device or per-login configuration</a:t>
            </a:r>
          </a:p>
          <a:p>
            <a:pPr>
              <a:lnSpc>
                <a:spcPct val="125000"/>
              </a:lnSpc>
              <a:spcAft>
                <a:spcPts val="1000"/>
              </a:spcAft>
              <a:defRPr sz="2100" b="1">
                <a:solidFill>
                  <a:srgbClr val="1C2628"/>
                </a:solidFill>
                <a:latin typeface="Calibri"/>
              </a:defRPr>
            </a:pPr>
            <a:r>
              <a:t>●  No contribution carries any device or user identity — even the team running the project cannot tell which phone or which account sent a given image</a:t>
            </a:r>
          </a:p>
          <a:p>
            <a:pPr>
              <a:lnSpc>
                <a:spcPct val="125000"/>
              </a:lnSpc>
              <a:spcAft>
                <a:spcPts val="1000"/>
              </a:spcAft>
              <a:defRPr sz="2100" b="1">
                <a:solidFill>
                  <a:srgbClr val="1C2628"/>
                </a:solidFill>
                <a:latin typeface="Calibri"/>
              </a:defRPr>
            </a:pPr>
            <a:r>
              <a:t>●  Deduplication is global across every contributor, not per-device — the same near-duplicate problem that once contaminated the training/test split (slide 10) is now caught at collection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ALTERNATIVES CONSIDERED</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Federated Learning — Assessed and Rejected</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18</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1900" b="1">
                <a:solidFill>
                  <a:srgbClr val="1C2628"/>
                </a:solidFill>
                <a:latin typeface="Calibri"/>
              </a:defRPr>
            </a:pPr>
            <a:r>
              <a:t>●  FL exists so training data never leaves the device — but this project's problem is the opposite: there is no local labelled data at all, only unlabelled photos</a:t>
            </a:r>
          </a:p>
          <a:p>
            <a:pPr>
              <a:lnSpc>
                <a:spcPct val="125000"/>
              </a:lnSpc>
              <a:spcAft>
                <a:spcPts val="1000"/>
              </a:spcAft>
              <a:defRPr sz="1900" b="1">
                <a:solidFill>
                  <a:srgbClr val="1C2628"/>
                </a:solidFill>
                <a:latin typeface="Calibri"/>
              </a:defRPr>
            </a:pPr>
            <a:r>
              <a:t>●  The real bottleneck is expert labelling, which is a human constraint FL doesn't touch</a:t>
            </a:r>
          </a:p>
          <a:p>
            <a:pPr>
              <a:lnSpc>
                <a:spcPct val="125000"/>
              </a:lnSpc>
              <a:spcAft>
                <a:spcPts val="1000"/>
              </a:spcAft>
              <a:defRPr sz="1900" b="1">
                <a:solidFill>
                  <a:srgbClr val="1C2628"/>
                </a:solidFill>
                <a:latin typeface="Calibri"/>
              </a:defRPr>
            </a:pPr>
            <a:r>
              <a:t>●  A Samsung A320 on Android 8 cannot realistically run backpropagation through EfficientNetB0 — thermal, battery and memory limits hit before accuracy would improve</a:t>
            </a:r>
          </a:p>
          <a:p>
            <a:pPr>
              <a:lnSpc>
                <a:spcPct val="125000"/>
              </a:lnSpc>
              <a:spcAft>
                <a:spcPts val="1000"/>
              </a:spcAft>
              <a:defRPr sz="1900" b="1">
                <a:solidFill>
                  <a:srgbClr val="1C2628"/>
                </a:solidFill>
                <a:latin typeface="Calibri"/>
              </a:defRPr>
            </a:pPr>
            <a:r>
              <a:t>●  FL needs hundreds to thousands of participating clients to average out gradient noise; a capstone deployment has a handful</a:t>
            </a:r>
          </a:p>
        </p:txBody>
      </p:sp>
      <p:sp>
        <p:nvSpPr>
          <p:cNvPr id="7" name="Rounded Rectangle 6"/>
          <p:cNvSpPr/>
          <p:nvPr/>
        </p:nvSpPr>
        <p:spPr>
          <a:xfrm>
            <a:off x="457200" y="5623560"/>
            <a:ext cx="11247120" cy="777240"/>
          </a:xfrm>
          <a:prstGeom prst="roundRect">
            <a:avLst/>
          </a:prstGeom>
          <a:solidFill>
            <a:srgbClr val="F2FAFB"/>
          </a:solidFill>
          <a:ln w="1270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defRPr sz="1600" i="1" b="1">
                <a:solidFill>
                  <a:srgbClr val="006B78"/>
                </a:solidFill>
                <a:latin typeface="Calibri"/>
              </a:defRPr>
            </a:pPr>
            <a:r>
              <a:t>Chosen instead: consented, centralised collection with on-device de-identification — achieves the relevant privacy properties without FL's coordination cost.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9144000" cy="320040"/>
          </a:xfrm>
          <a:prstGeom prst="rect">
            <a:avLst/>
          </a:prstGeom>
          <a:noFill/>
        </p:spPr>
        <p:txBody>
          <a:bodyPr wrap="none">
            <a:spAutoFit/>
          </a:bodyPr>
          <a:lstStyle/>
          <a:p>
            <a:pPr>
              <a:defRPr sz="1300" b="1">
                <a:solidFill>
                  <a:srgbClr val="0097A7"/>
                </a:solidFill>
                <a:latin typeface="Calibri"/>
              </a:defRPr>
            </a:pPr>
            <a:r>
              <a:rPr spc="150"/>
              <a:t>STATUS</a:t>
            </a:r>
          </a:p>
        </p:txBody>
      </p:sp>
      <p:sp>
        <p:nvSpPr>
          <p:cNvPr id="3" name="TextBox 2"/>
          <p:cNvSpPr txBox="1"/>
          <p:nvPr/>
        </p:nvSpPr>
        <p:spPr>
          <a:xfrm>
            <a:off x="457200" y="411480"/>
            <a:ext cx="11274552" cy="822960"/>
          </a:xfrm>
          <a:prstGeom prst="rect">
            <a:avLst/>
          </a:prstGeom>
          <a:noFill/>
        </p:spPr>
        <p:txBody>
          <a:bodyPr wrap="square">
            <a:spAutoFit/>
          </a:bodyPr>
          <a:lstStyle/>
          <a:p>
            <a:pPr>
              <a:defRPr sz="3200" b="1">
                <a:solidFill>
                  <a:srgbClr val="1C2628"/>
                </a:solidFill>
                <a:latin typeface="Calibri"/>
              </a:defRPr>
            </a:pPr>
            <a:r>
              <a:t>What's Built, What's Next</a:t>
            </a:r>
          </a:p>
        </p:txBody>
      </p:sp>
      <p:sp>
        <p:nvSpPr>
          <p:cNvPr id="4" name="Rectangle 3"/>
          <p:cNvSpPr/>
          <p:nvPr/>
        </p:nvSpPr>
        <p:spPr>
          <a:xfrm>
            <a:off x="457200" y="1051560"/>
            <a:ext cx="1005840" cy="508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tIns="0" bIns="0" lIns="457200"/>
          <a:lstStyle/>
          <a:p>
            <a:pPr algn="l">
              <a:defRPr sz="1000">
                <a:solidFill>
                  <a:srgbClr val="FFFFFF"/>
                </a:solidFill>
                <a:latin typeface="Calibri"/>
              </a:defRPr>
            </a:pPr>
            <a:r>
              <a:t>Dermify — On-Device Skin Screening &amp; Data Curation Pipeline        19</a:t>
            </a:r>
          </a:p>
        </p:txBody>
      </p:sp>
      <p:sp>
        <p:nvSpPr>
          <p:cNvPr id="6" name="TextBox 5"/>
          <p:cNvSpPr txBox="1"/>
          <p:nvPr/>
        </p:nvSpPr>
        <p:spPr>
          <a:xfrm>
            <a:off x="457200" y="1417320"/>
            <a:ext cx="11247120" cy="4846320"/>
          </a:xfrm>
          <a:prstGeom prst="rect">
            <a:avLst/>
          </a:prstGeom>
          <a:noFill/>
        </p:spPr>
        <p:txBody>
          <a:bodyPr wrap="square">
            <a:spAutoFit/>
          </a:bodyPr>
          <a:lstStyle/>
          <a:p>
            <a:pPr>
              <a:lnSpc>
                <a:spcPct val="125000"/>
              </a:lnSpc>
              <a:spcAft>
                <a:spcPts val="1000"/>
              </a:spcAft>
              <a:defRPr sz="1800" b="1">
                <a:solidFill>
                  <a:srgbClr val="1C2628"/>
                </a:solidFill>
                <a:latin typeface="Calibri"/>
              </a:defRPr>
            </a:pPr>
            <a:r>
              <a:t>●  Phase 1 — built and confirmed end-to-end on device: consent, de-identification, on-device perceptual hashing, Room outbox + WorkManager upload, server-side global deduplication, database-enforced privacy lockdown</a:t>
            </a:r>
          </a:p>
          <a:p>
            <a:pPr>
              <a:lnSpc>
                <a:spcPct val="125000"/>
              </a:lnSpc>
              <a:spcAft>
                <a:spcPts val="1000"/>
              </a:spcAft>
              <a:defRPr sz="1800" b="1">
                <a:solidFill>
                  <a:srgbClr val="1C2628"/>
                </a:solidFill>
                <a:latin typeface="Calibri"/>
              </a:defRPr>
            </a:pPr>
            <a:r>
              <a:t>●  Phase 2 (next) — dermatologist double-blind labelling screen, two-independent-labels agreement logic, Cohen's κ inter-rater agreement tracking</a:t>
            </a:r>
          </a:p>
          <a:p>
            <a:pPr>
              <a:lnSpc>
                <a:spcPct val="125000"/>
              </a:lnSpc>
              <a:spcAft>
                <a:spcPts val="1000"/>
              </a:spcAft>
              <a:defRPr sz="1800" b="1">
                <a:solidFill>
                  <a:srgbClr val="1C2628"/>
                </a:solidFill>
                <a:latin typeface="Calibri"/>
              </a:defRPr>
            </a:pPr>
            <a:r>
              <a:t>●  Phase 3 — immutable dataset version snapshots, withdrawal propagation, class-aware contribution prioritisation</a:t>
            </a:r>
          </a:p>
          <a:p>
            <a:pPr>
              <a:lnSpc>
                <a:spcPct val="125000"/>
              </a:lnSpc>
              <a:spcAft>
                <a:spcPts val="1000"/>
              </a:spcAft>
              <a:defRPr sz="1800" b="1">
                <a:solidFill>
                  <a:srgbClr val="1C2628"/>
                </a:solidFill>
                <a:latin typeface="Calibri"/>
              </a:defRPr>
            </a:pPr>
            <a:r>
              <a:t>●  Phase 4 — retraining stays deliberately manual and human-gated: a new model must beat the incumbent's cross-validated accuracy by more than one standard deviation before it ships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97A7"/>
        </a:solidFill>
        <a:effectLst/>
      </p:bgPr>
    </p:bg>
    <p:spTree>
      <p:nvGrpSpPr>
        <p:cNvPr id="1" name=""/>
        <p:cNvGrpSpPr/>
        <p:nvPr/>
      </p:nvGrpSpPr>
      <p:grpSpPr/>
      <p:sp>
        <p:nvSpPr>
          <p:cNvPr id="2" name="Rectangle 1"/>
          <p:cNvSpPr/>
          <p:nvPr/>
        </p:nvSpPr>
        <p:spPr>
          <a:xfrm>
            <a:off x="640080" y="2743200"/>
            <a:ext cx="1280160" cy="76200"/>
          </a:xfrm>
          <a:prstGeom prst="rect">
            <a:avLst/>
          </a:prstGeom>
          <a:solidFill>
            <a:srgbClr val="E0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0"/>
            <a:ext cx="10515600" cy="1097280"/>
          </a:xfrm>
          <a:prstGeom prst="rect">
            <a:avLst/>
          </a:prstGeom>
          <a:noFill/>
        </p:spPr>
        <p:txBody>
          <a:bodyPr wrap="none">
            <a:spAutoFit/>
          </a:bodyPr>
          <a:lstStyle/>
          <a:p>
            <a:pPr>
              <a:defRPr sz="5400" b="1">
                <a:solidFill>
                  <a:srgbClr val="FFFFFF"/>
                </a:solidFill>
                <a:latin typeface="Calibri Light"/>
              </a:defRPr>
            </a:pPr>
            <a:r>
              <a:t>Thank You</a:t>
            </a:r>
          </a:p>
        </p:txBody>
      </p:sp>
      <p:sp>
        <p:nvSpPr>
          <p:cNvPr id="4" name="TextBox 3"/>
          <p:cNvSpPr txBox="1"/>
          <p:nvPr/>
        </p:nvSpPr>
        <p:spPr>
          <a:xfrm>
            <a:off x="640080" y="3977639"/>
            <a:ext cx="10515600" cy="914400"/>
          </a:xfrm>
          <a:prstGeom prst="rect">
            <a:avLst/>
          </a:prstGeom>
          <a:noFill/>
        </p:spPr>
        <p:txBody>
          <a:bodyPr wrap="none">
            <a:spAutoFit/>
          </a:bodyPr>
          <a:lstStyle/>
          <a:p>
            <a:pPr>
              <a:defRPr sz="2200">
                <a:solidFill>
                  <a:srgbClr val="FFFFFF"/>
                </a:solidFill>
                <a:latin typeface="Calibri"/>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